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59" r:id="rId6"/>
    <p:sldId id="265" r:id="rId7"/>
    <p:sldId id="266" r:id="rId8"/>
    <p:sldId id="271" r:id="rId9"/>
    <p:sldId id="263" r:id="rId10"/>
    <p:sldId id="261" r:id="rId11"/>
    <p:sldId id="264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301BB-8474-4F11-BAC7-ED27D6F7C0A5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60C6E-7EA4-4364-A2C2-6F8F56BD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2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Agile differs from Waterfall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principles are from the Agile Manifesto.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6872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1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7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4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0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2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5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0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2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62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2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96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8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647272"/>
            <a:ext cx="6947127" cy="3755395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00C8FF"/>
                </a:solidFill>
              </a:defRPr>
            </a:pPr>
            <a: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  <a:t>Agile Methodology,</a:t>
            </a:r>
            <a:b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n-US" sz="4400" b="1" i="0" dirty="0">
                <a:solidFill>
                  <a:schemeClr val="accent1"/>
                </a:solidFill>
                <a:effectLst/>
                <a:latin typeface="Inter"/>
              </a:rPr>
              <a:t>Test Case (postman) </a:t>
            </a:r>
            <a: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  <a:t>&amp;</a:t>
            </a:r>
            <a:b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  <a:t>Data Validation</a:t>
            </a:r>
            <a:b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</a:br>
            <a:br>
              <a:rPr lang="en-US" sz="4400" b="1" i="0" dirty="0">
                <a:solidFill>
                  <a:srgbClr val="FFFFFF"/>
                </a:solidFill>
                <a:effectLst/>
                <a:latin typeface="Inter"/>
              </a:rPr>
            </a:b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3043" y="3801439"/>
            <a:ext cx="7448764" cy="1551398"/>
          </a:xfrm>
        </p:spPr>
        <p:txBody>
          <a:bodyPr>
            <a:normAutofit fontScale="92500"/>
          </a:bodyPr>
          <a:lstStyle/>
          <a:p>
            <a:pPr algn="l"/>
            <a:r>
              <a:rPr lang="en-US" sz="1900" b="0" i="0" dirty="0">
                <a:solidFill>
                  <a:srgbClr val="94A3B8"/>
                </a:solidFill>
                <a:effectLst/>
                <a:latin typeface="Roboto" panose="020B0604020202020204" pitchFamily="2" charset="0"/>
              </a:rPr>
              <a:t>A strategic framework for delivering the </a:t>
            </a:r>
            <a:r>
              <a:rPr lang="en-US" sz="1900" b="1" i="0" dirty="0" err="1">
                <a:solidFill>
                  <a:srgbClr val="FFFFFF"/>
                </a:solidFill>
                <a:effectLst/>
                <a:latin typeface="Roboto" panose="020B0604020202020204" pitchFamily="2" charset="0"/>
              </a:rPr>
              <a:t>WellBot</a:t>
            </a:r>
            <a:r>
              <a:rPr lang="en-US" sz="1900" b="1" i="0" dirty="0">
                <a:solidFill>
                  <a:srgbClr val="FFFFFF"/>
                </a:solidFill>
                <a:effectLst/>
                <a:latin typeface="Roboto" panose="020B0604020202020204" pitchFamily="2" charset="0"/>
              </a:rPr>
              <a:t> AI Wellness System</a:t>
            </a:r>
            <a:r>
              <a:rPr lang="en-US" sz="1900" b="0" i="0" dirty="0">
                <a:solidFill>
                  <a:srgbClr val="94A3B8"/>
                </a:solidFill>
                <a:effectLst/>
                <a:latin typeface="Roboto" panose="020B0604020202020204" pitchFamily="2" charset="0"/>
              </a:rPr>
              <a:t>—ensuring privacy, reliability, and empathetic user engagement at scale.</a:t>
            </a:r>
          </a:p>
          <a:p>
            <a:pPr algn="l"/>
            <a:endParaRPr dirty="0"/>
          </a:p>
          <a:p>
            <a:r>
              <a:rPr sz="1900" dirty="0">
                <a:solidFill>
                  <a:schemeClr val="bg1"/>
                </a:solidFill>
              </a:rPr>
              <a:t>Presented by: Apeksha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6C5C82A1-1D56-456A-93CA-847F243A5456}"/>
              </a:ext>
            </a:extLst>
          </p:cNvPr>
          <p:cNvSpPr/>
          <p:nvPr/>
        </p:nvSpPr>
        <p:spPr>
          <a:xfrm>
            <a:off x="6945330" y="2157573"/>
            <a:ext cx="1767155" cy="349321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Principle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9090A36-B9B3-4053-8718-A2DC95DF01AE}"/>
              </a:ext>
            </a:extLst>
          </p:cNvPr>
          <p:cNvSpPr/>
          <p:nvPr/>
        </p:nvSpPr>
        <p:spPr>
          <a:xfrm>
            <a:off x="6945329" y="2951251"/>
            <a:ext cx="1767155" cy="34932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   Frameworks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ABFB5637-F2D5-48A0-832C-34973D90D873}"/>
              </a:ext>
            </a:extLst>
          </p:cNvPr>
          <p:cNvSpPr/>
          <p:nvPr/>
        </p:nvSpPr>
        <p:spPr>
          <a:xfrm>
            <a:off x="6945330" y="3842534"/>
            <a:ext cx="1880171" cy="34932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Implementation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0"/>
            <a:ext cx="5346748" cy="5686745"/>
          </a:xfrm>
        </p:spPr>
        <p:txBody>
          <a:bodyPr>
            <a:normAutofit fontScale="90000"/>
          </a:bodyPr>
          <a:lstStyle/>
          <a:p>
            <a:r>
              <a:rPr lang="en-US" sz="5300" b="1" i="0" dirty="0">
                <a:solidFill>
                  <a:schemeClr val="accent1"/>
                </a:solidFill>
                <a:effectLst/>
                <a:latin typeface="Inter"/>
              </a:rPr>
              <a:t>Agile Methodology</a:t>
            </a:r>
            <a:br>
              <a:rPr lang="en-US" b="1" i="0" dirty="0">
                <a:solidFill>
                  <a:srgbClr val="FFFFFF"/>
                </a:solidFill>
                <a:effectLst/>
                <a:latin typeface="Inter"/>
              </a:rPr>
            </a:br>
            <a:br>
              <a:rPr lang="en-US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n-US" sz="3600" b="0" i="0" dirty="0">
                <a:solidFill>
                  <a:srgbClr val="CBD5E1"/>
                </a:solidFill>
                <a:effectLst/>
                <a:latin typeface="Inter"/>
              </a:rPr>
              <a:t>Establish the iterative framework for </a:t>
            </a:r>
            <a:r>
              <a:rPr lang="en-US" sz="3600" b="0" i="0" dirty="0" err="1">
                <a:solidFill>
                  <a:srgbClr val="CBD5E1"/>
                </a:solidFill>
                <a:effectLst/>
                <a:latin typeface="Inter"/>
              </a:rPr>
              <a:t>WellBot</a:t>
            </a:r>
            <a:r>
              <a:rPr lang="en-US" sz="3600" b="0" i="0" dirty="0">
                <a:solidFill>
                  <a:srgbClr val="CBD5E1"/>
                </a:solidFill>
                <a:effectLst/>
                <a:latin typeface="Inter"/>
              </a:rPr>
              <a:t>. Focusing on principles, frameworks, and practical implementation strategies that prioritize flexibility and user value.</a:t>
            </a:r>
            <a:br>
              <a:rPr lang="en-US" sz="3600" b="0" i="0" dirty="0">
                <a:solidFill>
                  <a:srgbClr val="CBD5E1"/>
                </a:solidFill>
                <a:effectLst/>
                <a:latin typeface="Inter"/>
              </a:rPr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400" b="1" i="0" dirty="0">
                <a:solidFill>
                  <a:schemeClr val="accent1"/>
                </a:solidFill>
                <a:effectLst/>
                <a:latin typeface="Inter"/>
              </a:rPr>
              <a:t>Agile Principles &amp; Values</a:t>
            </a:r>
            <a:br>
              <a:rPr lang="en-US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n-US" sz="3600" b="0" i="0" dirty="0">
                <a:solidFill>
                  <a:srgbClr val="94A3B8"/>
                </a:solidFill>
                <a:effectLst/>
                <a:latin typeface="Inter"/>
              </a:rPr>
              <a:t>Foundational mindset for the </a:t>
            </a:r>
            <a:r>
              <a:rPr lang="en-US" sz="3600" b="0" i="0" dirty="0" err="1">
                <a:solidFill>
                  <a:srgbClr val="94A3B8"/>
                </a:solidFill>
                <a:effectLst/>
                <a:latin typeface="Inter"/>
              </a:rPr>
              <a:t>WellBot</a:t>
            </a:r>
            <a:r>
              <a:rPr lang="en-US" sz="3600" b="0" i="0" dirty="0">
                <a:solidFill>
                  <a:srgbClr val="94A3B8"/>
                </a:solidFill>
                <a:effectLst/>
                <a:latin typeface="Inter"/>
              </a:rPr>
              <a:t> development process</a:t>
            </a:r>
            <a:br>
              <a:rPr lang="en-US" b="0" i="0" dirty="0">
                <a:solidFill>
                  <a:srgbClr val="94A3B8"/>
                </a:solidFill>
                <a:effectLst/>
                <a:latin typeface="Inter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122" y="2753192"/>
            <a:ext cx="7704667" cy="3332816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B8A30D-777A-40C6-9A30-C5F0CD33E7CC}"/>
              </a:ext>
            </a:extLst>
          </p:cNvPr>
          <p:cNvSpPr/>
          <p:nvPr/>
        </p:nvSpPr>
        <p:spPr>
          <a:xfrm>
            <a:off x="1140431" y="2794571"/>
            <a:ext cx="3657600" cy="1335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Individuals &amp; Interactions</a:t>
            </a: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Valued over processes and tools. Ensuring team communication flows freely.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7A04A3-3C33-40C3-8856-859736EB3118}"/>
              </a:ext>
            </a:extLst>
          </p:cNvPr>
          <p:cNvSpPr/>
          <p:nvPr/>
        </p:nvSpPr>
        <p:spPr>
          <a:xfrm>
            <a:off x="5013789" y="2794571"/>
            <a:ext cx="3657600" cy="1335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Working Software</a:t>
            </a: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Valued over comprehensive documentation. Functional chatbots demonstrate real progress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A60FDA-A495-44BD-AD05-FB0B235F3CE2}"/>
              </a:ext>
            </a:extLst>
          </p:cNvPr>
          <p:cNvSpPr/>
          <p:nvPr/>
        </p:nvSpPr>
        <p:spPr>
          <a:xfrm>
            <a:off x="1176866" y="4419600"/>
            <a:ext cx="3657600" cy="1335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Customer Collaboration</a:t>
            </a: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Valued over contract negotiation. Constant feedback loop with mental health experts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26D750-14C0-4B76-8AAC-B1B7D677A52B}"/>
              </a:ext>
            </a:extLst>
          </p:cNvPr>
          <p:cNvSpPr/>
          <p:nvPr/>
        </p:nvSpPr>
        <p:spPr>
          <a:xfrm>
            <a:off x="5029200" y="4419600"/>
            <a:ext cx="3657600" cy="1335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Responding to Change</a:t>
            </a:r>
          </a:p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Valued over following a plan. Adapting to user needs and safety protocols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4905-7C86-4C8E-89EE-DC8C3708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2"/>
            <a:ext cx="7704667" cy="142297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Agile Implementation Strategy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E7894-A074-48D2-BB39-309D22A3A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923" y="2214081"/>
            <a:ext cx="8301158" cy="2763748"/>
          </a:xfrm>
        </p:spPr>
      </p:pic>
    </p:spTree>
    <p:extLst>
      <p:ext uri="{BB962C8B-B14F-4D97-AF65-F5344CB8AC3E}">
        <p14:creationId xmlns:p14="http://schemas.microsoft.com/office/powerpoint/2010/main" val="306687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95" y="457201"/>
            <a:ext cx="4469259" cy="1515437"/>
          </a:xfrm>
        </p:spPr>
        <p:txBody>
          <a:bodyPr/>
          <a:lstStyle/>
          <a:p>
            <a:pPr>
              <a:defRPr sz="3200" b="1">
                <a:solidFill>
                  <a:srgbClr val="00C8FF"/>
                </a:solidFill>
              </a:defRPr>
            </a:pPr>
            <a:r>
              <a:rPr dirty="0"/>
              <a:t>Key Principles of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790" y="1284270"/>
            <a:ext cx="4705564" cy="4715546"/>
          </a:xfrm>
        </p:spPr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Individuals &amp; interactions over processes &amp; tools.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Working software over comprehensive documentation.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Customer collaboration over contract negotiation.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Responding to change over following a plan.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3F5CE6-5F60-4293-95B3-5E79682A46E1}"/>
              </a:ext>
            </a:extLst>
          </p:cNvPr>
          <p:cNvSpPr/>
          <p:nvPr/>
        </p:nvSpPr>
        <p:spPr>
          <a:xfrm>
            <a:off x="5532633" y="380144"/>
            <a:ext cx="3524036" cy="609771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3B4CD-FDAB-487D-B149-6B4E80B2C086}"/>
              </a:ext>
            </a:extLst>
          </p:cNvPr>
          <p:cNvSpPr txBox="1"/>
          <p:nvPr/>
        </p:nvSpPr>
        <p:spPr>
          <a:xfrm>
            <a:off x="5650786" y="1582339"/>
            <a:ext cx="32877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cap="all" dirty="0" err="1">
                <a:effectLst/>
                <a:latin typeface="Inter"/>
              </a:rPr>
              <a:t>WellBot</a:t>
            </a:r>
            <a:r>
              <a:rPr lang="en-US" sz="2000" b="1" i="0" cap="all" dirty="0">
                <a:effectLst/>
                <a:latin typeface="Inter"/>
              </a:rPr>
              <a:t> Application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"Agile allows us to accept late-breaking privacy requirements without derailing the entire release.“</a:t>
            </a:r>
          </a:p>
          <a:p>
            <a:pPr algn="l"/>
            <a:endParaRPr lang="en-US" b="0" i="0" dirty="0">
              <a:effectLst/>
              <a:latin typeface="Inter"/>
            </a:endParaRPr>
          </a:p>
          <a:p>
            <a:pPr algn="l"/>
            <a:r>
              <a:rPr lang="en-US" b="0" i="0" dirty="0">
                <a:effectLst/>
                <a:latin typeface="Inter"/>
              </a:rPr>
              <a:t>Instead of rigid planning, we iterate on </a:t>
            </a:r>
            <a:r>
              <a:rPr lang="en-US" b="1" i="0" dirty="0">
                <a:effectLst/>
                <a:latin typeface="Inter"/>
              </a:rPr>
              <a:t>privacy protocols</a:t>
            </a:r>
            <a:r>
              <a:rPr lang="en-US" b="0" i="0" dirty="0">
                <a:effectLst/>
                <a:latin typeface="Inter"/>
              </a:rPr>
              <a:t> every sprint, ensuring compliance with new mental health data standards as they emerge.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20898"/>
            <a:ext cx="7704667" cy="1289406"/>
          </a:xfrm>
        </p:spPr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74600" y="295384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C8FF"/>
                </a:solidFill>
              </a:defRPr>
            </a:pPr>
            <a:r>
              <a:rPr dirty="0"/>
              <a:t>Data Validation Techniques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283CD88E-9477-4B1A-B99C-82FD5304E80A}"/>
              </a:ext>
            </a:extLst>
          </p:cNvPr>
          <p:cNvSpPr/>
          <p:nvPr/>
        </p:nvSpPr>
        <p:spPr>
          <a:xfrm>
            <a:off x="3174715" y="1658419"/>
            <a:ext cx="4798032" cy="1150706"/>
          </a:xfrm>
          <a:prstGeom prst="flowChartAlternateProcess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Format &amp; Type</a:t>
            </a:r>
          </a:p>
          <a:p>
            <a:pPr algn="l"/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Verifying data types (int, string), regex patterns for emails, and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nter"/>
              </a:rPr>
              <a:t>enum</a:t>
            </a:r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 constraints.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92CAE37-F2A5-4107-A284-642E47879ED6}"/>
              </a:ext>
            </a:extLst>
          </p:cNvPr>
          <p:cNvSpPr/>
          <p:nvPr/>
        </p:nvSpPr>
        <p:spPr>
          <a:xfrm>
            <a:off x="3210674" y="4247287"/>
            <a:ext cx="4798032" cy="1150706"/>
          </a:xfrm>
          <a:prstGeom prst="flowChartAlternateProcess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Consistency</a:t>
            </a:r>
          </a:p>
          <a:p>
            <a:pPr algn="l"/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Ensuring referential integrity and logical cross-field dependencies (e.g., dates)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1389847-FE63-402E-B58C-E57001E99C89}"/>
              </a:ext>
            </a:extLst>
          </p:cNvPr>
          <p:cNvSpPr/>
          <p:nvPr/>
        </p:nvSpPr>
        <p:spPr>
          <a:xfrm>
            <a:off x="3174715" y="2931127"/>
            <a:ext cx="4798032" cy="1150706"/>
          </a:xfrm>
          <a:prstGeom prst="flowChartAlternateProcess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Security &amp; Privacy</a:t>
            </a:r>
          </a:p>
          <a:p>
            <a:pPr algn="l"/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Input sanitization to prevent injection, and PII detection/masking before storage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FEE3B23-F520-40A3-99AB-81D90734DF29}"/>
              </a:ext>
            </a:extLst>
          </p:cNvPr>
          <p:cNvSpPr/>
          <p:nvPr/>
        </p:nvSpPr>
        <p:spPr>
          <a:xfrm>
            <a:off x="3174715" y="5563447"/>
            <a:ext cx="4833991" cy="1150706"/>
          </a:xfrm>
          <a:prstGeom prst="flowChartAlternateProcess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/>
              </a:rPr>
              <a:t>Statistical</a:t>
            </a:r>
          </a:p>
          <a:p>
            <a:pPr algn="l"/>
            <a:r>
              <a:rPr lang="en-US" b="0" i="0" dirty="0">
                <a:solidFill>
                  <a:schemeClr val="tx1"/>
                </a:solidFill>
                <a:effectLst/>
                <a:latin typeface="Inter"/>
              </a:rPr>
              <a:t>Monitoring for data drift and anomalies that could degrade AI model performance</a:t>
            </a:r>
            <a:r>
              <a:rPr lang="en-US" b="0" i="0" dirty="0">
                <a:solidFill>
                  <a:srgbClr val="CBD5E1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D5938-A15F-46BE-983F-E5917A7B2E1A}"/>
              </a:ext>
            </a:extLst>
          </p:cNvPr>
          <p:cNvSpPr txBox="1"/>
          <p:nvPr/>
        </p:nvSpPr>
        <p:spPr>
          <a:xfrm>
            <a:off x="873304" y="1952089"/>
            <a:ext cx="1982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E2E8F0"/>
                </a:solidFill>
                <a:effectLst/>
                <a:latin typeface="Inter"/>
              </a:rPr>
              <a:t>Core Validation Dimensions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76201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C8FF"/>
                </a:solidFill>
              </a:defRPr>
            </a:pPr>
            <a:r>
              <a:rPr sz="3600" dirty="0"/>
              <a:t>Importance of Data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76738"/>
            <a:ext cx="7704667" cy="44178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sz="2800" dirty="0"/>
          </a:p>
          <a:p>
            <a:pPr lvl="1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sz="2400" dirty="0"/>
              <a:t>Ensures data accuracy &amp; integrity.</a:t>
            </a:r>
          </a:p>
          <a:p>
            <a:pPr lvl="1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sz="2400" dirty="0"/>
              <a:t>Prevents invalid or malicious input.</a:t>
            </a:r>
          </a:p>
          <a:p>
            <a:pPr lvl="1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sz="2400" dirty="0"/>
              <a:t>Improves system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CBF4-5FC7-42A1-A82A-C12E56E3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4351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Test Case Design</a:t>
            </a:r>
            <a:endParaRPr lang="en-US" sz="44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6EC04C-C6DD-46C4-BD74-B01562AF2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573" y="1900719"/>
            <a:ext cx="6884881" cy="40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4FECAA5-AA8F-439B-88A9-45DFF8085884}"/>
              </a:ext>
            </a:extLst>
          </p:cNvPr>
          <p:cNvSpPr/>
          <p:nvPr/>
        </p:nvSpPr>
        <p:spPr>
          <a:xfrm>
            <a:off x="6174294" y="2876764"/>
            <a:ext cx="2095928" cy="2732926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Use Collection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Group related requests into collections for better organization.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83188A4-353C-40BC-AAA6-D429EDE871C9}"/>
              </a:ext>
            </a:extLst>
          </p:cNvPr>
          <p:cNvSpPr/>
          <p:nvPr/>
        </p:nvSpPr>
        <p:spPr>
          <a:xfrm>
            <a:off x="3661789" y="2876764"/>
            <a:ext cx="2095928" cy="273292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Write Test Scripts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Use JavaScript to write test scripts to validate responses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494173D8-F74A-4B96-B937-3AD374ED3DC8}"/>
              </a:ext>
            </a:extLst>
          </p:cNvPr>
          <p:cNvSpPr/>
          <p:nvPr/>
        </p:nvSpPr>
        <p:spPr>
          <a:xfrm>
            <a:off x="1273997" y="2876764"/>
            <a:ext cx="2095928" cy="273292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00C8FF"/>
                </a:solidFill>
              </a:defRPr>
            </a:pPr>
            <a:r>
              <a:rPr lang="en-US" sz="4800" dirty="0">
                <a:solidFill>
                  <a:schemeClr val="accent1"/>
                </a:solidFill>
              </a:rPr>
              <a:t>Creating </a:t>
            </a:r>
            <a:r>
              <a:rPr sz="4800" dirty="0">
                <a:solidFill>
                  <a:schemeClr val="accent1"/>
                </a:solidFill>
              </a:rPr>
              <a:t>Test Cases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77A298-3E87-49C5-A300-346251A1D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092" y="3123344"/>
            <a:ext cx="2054833" cy="24863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/>
              <a:t>Set Up Environment</a:t>
            </a:r>
          </a:p>
          <a:p>
            <a:pPr marL="0" indent="0">
              <a:buNone/>
            </a:pPr>
            <a:r>
              <a:rPr lang="en-US" sz="2000" dirty="0"/>
              <a:t>Define your API environment, including variables for URLs and authentication.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328" y="2491363"/>
            <a:ext cx="8362690" cy="161561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Postman is a powerful tool for testing APIs. It allows users to create, share, and document API tests effectively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br>
              <a:rPr lang="en-US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4959" y="687158"/>
            <a:ext cx="642175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C8FF"/>
                </a:solidFill>
              </a:defRPr>
            </a:pPr>
            <a:r>
              <a:rPr sz="4800" dirty="0"/>
              <a:t>Test </a:t>
            </a:r>
            <a:r>
              <a:rPr lang="en-US" sz="4800" dirty="0"/>
              <a:t>APIs </a:t>
            </a:r>
            <a:r>
              <a:rPr sz="4800" dirty="0"/>
              <a:t>with Postman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9EB95-047E-421B-9930-078F4AF5036D}"/>
              </a:ext>
            </a:extLst>
          </p:cNvPr>
          <p:cNvSpPr txBox="1"/>
          <p:nvPr/>
        </p:nvSpPr>
        <p:spPr>
          <a:xfrm>
            <a:off x="369870" y="3602853"/>
            <a:ext cx="73562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800100" lvl="1" indent="-342900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lang="en-US" sz="2400" dirty="0"/>
              <a:t>Powerful API development &amp; testing tool.</a:t>
            </a:r>
          </a:p>
          <a:p>
            <a:pPr marL="800100" lvl="1" indent="-342900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lang="en-US" sz="2400" dirty="0"/>
              <a:t>Create, share &amp; document test cases.</a:t>
            </a:r>
          </a:p>
          <a:p>
            <a:pPr marL="800100" lvl="1" indent="-342900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</a:defRPr>
            </a:pPr>
            <a:r>
              <a:rPr lang="en-US" sz="2400" dirty="0"/>
              <a:t>Supports automation &amp; scripting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00C8FF"/>
                </a:solidFill>
              </a:defRPr>
            </a:pPr>
            <a:r>
              <a:rPr sz="3600" dirty="0"/>
              <a:t>Postman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380144"/>
            <a:ext cx="7704667" cy="56196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sz="2800" dirty="0"/>
          </a:p>
          <a:p>
            <a:pPr lvl="1">
              <a:buFont typeface="Wingdings" panose="05000000000000000000" pitchFamily="2" charset="2"/>
              <a:buChar char="Ø"/>
              <a:defRPr sz="2000">
                <a:solidFill>
                  <a:srgbClr val="FFFFFF"/>
                </a:solidFill>
              </a:defRPr>
            </a:pPr>
            <a:r>
              <a:rPr sz="2400" dirty="0"/>
              <a:t>Run bulk tests using Collection Runner.</a:t>
            </a:r>
          </a:p>
          <a:p>
            <a:pPr lvl="1">
              <a:buFont typeface="Wingdings" panose="05000000000000000000" pitchFamily="2" charset="2"/>
              <a:buChar char="Ø"/>
              <a:defRPr sz="2000">
                <a:solidFill>
                  <a:srgbClr val="FFFFFF"/>
                </a:solidFill>
              </a:defRPr>
            </a:pPr>
            <a:r>
              <a:rPr sz="2400" dirty="0"/>
              <a:t>Export collections for CI/CD pipelines.</a:t>
            </a:r>
          </a:p>
          <a:p>
            <a:pPr lvl="1">
              <a:buFont typeface="Wingdings" panose="05000000000000000000" pitchFamily="2" charset="2"/>
              <a:buChar char="Ø"/>
              <a:defRPr sz="2000">
                <a:solidFill>
                  <a:srgbClr val="FFFFFF"/>
                </a:solidFill>
              </a:defRPr>
            </a:pPr>
            <a:r>
              <a:rPr sz="2400" dirty="0"/>
              <a:t>Integrate with Jenkins/GitHub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731195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C8FF"/>
                </a:solidFill>
              </a:defRPr>
            </a:pPr>
            <a:r>
              <a:rPr sz="4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03461"/>
            <a:ext cx="7704667" cy="3462391"/>
          </a:xfrm>
        </p:spPr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q"/>
              <a:defRPr sz="2000">
                <a:solidFill>
                  <a:srgbClr val="FFFFFF"/>
                </a:solidFill>
              </a:defRPr>
            </a:pPr>
            <a:r>
              <a:rPr sz="2400" dirty="0"/>
              <a:t>Agile ensures adaptability.</a:t>
            </a:r>
          </a:p>
          <a:p>
            <a:pPr lvl="1">
              <a:buFont typeface="Wingdings" panose="05000000000000000000" pitchFamily="2" charset="2"/>
              <a:buChar char="q"/>
              <a:defRPr sz="2000">
                <a:solidFill>
                  <a:srgbClr val="FFFFFF"/>
                </a:solidFill>
              </a:defRPr>
            </a:pPr>
            <a:r>
              <a:rPr sz="2400" dirty="0"/>
              <a:t>Postman strengthens API quality.</a:t>
            </a:r>
          </a:p>
          <a:p>
            <a:pPr lvl="1">
              <a:buFont typeface="Wingdings" panose="05000000000000000000" pitchFamily="2" charset="2"/>
              <a:buChar char="q"/>
              <a:defRPr sz="2000">
                <a:solidFill>
                  <a:srgbClr val="FFFFFF"/>
                </a:solidFill>
              </a:defRPr>
            </a:pPr>
            <a:r>
              <a:rPr sz="2400" dirty="0"/>
              <a:t>Validation secures data integrity.</a:t>
            </a:r>
          </a:p>
          <a:p>
            <a:pPr lvl="1">
              <a:buFont typeface="Wingdings" panose="05000000000000000000" pitchFamily="2" charset="2"/>
              <a:buChar char="q"/>
              <a:defRPr sz="2000">
                <a:solidFill>
                  <a:srgbClr val="FFFFFF"/>
                </a:solidFill>
              </a:defRPr>
            </a:pPr>
            <a:r>
              <a:rPr sz="2400" dirty="0"/>
              <a:t>Together they deliver robust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612C77-18D5-4E0E-B33D-46CCE80D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811658"/>
            <a:ext cx="7704667" cy="51881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9668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74</TotalTime>
  <Words>471</Words>
  <Application>Microsoft Office PowerPoint</Application>
  <PresentationFormat>On-screen Show (4:3)</PresentationFormat>
  <Paragraphs>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Corbel</vt:lpstr>
      <vt:lpstr>Inter</vt:lpstr>
      <vt:lpstr>Roboto</vt:lpstr>
      <vt:lpstr>Wingdings</vt:lpstr>
      <vt:lpstr>Parallax</vt:lpstr>
      <vt:lpstr>Agile Methodology, Test Case (postman) &amp; Data Validation  </vt:lpstr>
      <vt:lpstr>Agile Methodology  Establish the iterative framework for WellBot. Focusing on principles, frameworks, and practical implementation strategies that prioritize flexibility and user value. </vt:lpstr>
      <vt:lpstr> Agile Principles &amp; Values Foundational mindset for the WellBot development process </vt:lpstr>
      <vt:lpstr>Agile Implementation Strategy</vt:lpstr>
      <vt:lpstr>Key Principles of Agile</vt:lpstr>
      <vt:lpstr>PowerPoint Presentation</vt:lpstr>
      <vt:lpstr>Importance of Data Validation</vt:lpstr>
      <vt:lpstr>Test Case Design</vt:lpstr>
      <vt:lpstr>Creating Test Cases</vt:lpstr>
      <vt:lpstr>Postman is a powerful tool for testing APIs. It allows users to create, share, and document API tests effectively. </vt:lpstr>
      <vt:lpstr>Postman Automation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Methodology, Test Case Design &amp; Data Validation</dc:title>
  <dc:subject/>
  <dc:creator>Apeksha Jain</dc:creator>
  <cp:keywords/>
  <dc:description>generated using python-pptx</dc:description>
  <cp:lastModifiedBy>Apeksha Jain</cp:lastModifiedBy>
  <cp:revision>13</cp:revision>
  <dcterms:created xsi:type="dcterms:W3CDTF">2013-01-27T09:14:16Z</dcterms:created>
  <dcterms:modified xsi:type="dcterms:W3CDTF">2026-03-21T12:55:05Z</dcterms:modified>
  <cp:category/>
</cp:coreProperties>
</file>